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GoogleSansFlexMedium-regular.fntdata"/><Relationship Id="rId21" Type="http://schemas.openxmlformats.org/officeDocument/2006/relationships/slide" Target="slides/slide16.xml"/><Relationship Id="rId24" Type="http://schemas.openxmlformats.org/officeDocument/2006/relationships/font" Target="fonts/GoogleSansFlex-regular.fntdata"/><Relationship Id="rId23" Type="http://schemas.openxmlformats.org/officeDocument/2006/relationships/font" Target="fonts/GoogleSansFlex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GoogleSansFlexSemiBold-regular.fntdata"/><Relationship Id="rId25" Type="http://schemas.openxmlformats.org/officeDocument/2006/relationships/font" Target="fonts/GoogleSansFlex-bold.fntdata"/><Relationship Id="rId27" Type="http://schemas.openxmlformats.org/officeDocument/2006/relationships/font" Target="fonts/GoogleSansFlexSemi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NeuralNodes</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400">
                <a:latin typeface="Google Sans Flex"/>
                <a:ea typeface="Google Sans Flex"/>
                <a:cs typeface="Google Sans Flex"/>
                <a:sym typeface="Google Sans Flex"/>
              </a:rPr>
              <a:t>Problem Statement: Cities have no quick way to decide where trees, shade, depaving and cool roofs would cool the people who wait outdoors, or to stop new buildings breaking the breeze and green that cool a street. Theme: Sustainability &amp; Social Impact.</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5092475" y="1968750"/>
            <a:ext cx="3311400" cy="12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Google Sans Flex Medium"/>
                <a:ea typeface="Google Sans Flex Medium"/>
                <a:cs typeface="Google Sans Flex Medium"/>
                <a:sym typeface="Google Sans Flex Medium"/>
              </a:rPr>
              <a:t>Note:</a:t>
            </a:r>
            <a:r>
              <a:rPr lang="en-GB" sz="1100">
                <a:solidFill>
                  <a:schemeClr val="lt1"/>
                </a:solidFill>
                <a:latin typeface="Google Sans Flex"/>
                <a:ea typeface="Google Sans Flex"/>
                <a:cs typeface="Google Sans Flex"/>
                <a:sym typeface="Google Sans Flex"/>
              </a:rPr>
              <a:t> Please download this template to make your edits and submit the final version.</a:t>
            </a:r>
            <a:br>
              <a:rPr lang="en-GB" sz="1100">
                <a:solidFill>
                  <a:schemeClr val="lt1"/>
                </a:solidFill>
                <a:latin typeface="Google Sans Flex"/>
                <a:ea typeface="Google Sans Flex"/>
                <a:cs typeface="Google Sans Flex"/>
                <a:sym typeface="Google Sans Flex"/>
              </a:rPr>
            </a:br>
            <a:br>
              <a:rPr lang="en-GB" sz="1100">
                <a:solidFill>
                  <a:schemeClr val="lt1"/>
                </a:solidFill>
                <a:latin typeface="Google Sans Flex"/>
                <a:ea typeface="Google Sans Flex"/>
                <a:cs typeface="Google Sans Flex"/>
                <a:sym typeface="Google Sans Flex"/>
              </a:rPr>
            </a:br>
            <a:r>
              <a:rPr lang="en-GB" sz="1100">
                <a:solidFill>
                  <a:schemeClr val="lt1"/>
                </a:solidFill>
                <a:latin typeface="Google Sans Flex"/>
                <a:ea typeface="Google Sans Flex"/>
                <a:cs typeface="Google Sans Flex"/>
                <a:sym typeface="Google Sans Flex"/>
              </a:rPr>
              <a:t>To download, go to File &gt; Download &gt; Microsoft PowerPoint (.PPTX). Kindly refrain from sending edit requests.</a:t>
            </a:r>
            <a:endParaRPr sz="1100">
              <a:solidFill>
                <a:schemeClr val="lt1"/>
              </a:solidFill>
              <a:latin typeface="Google Sans Flex"/>
              <a:ea typeface="Google Sans Flex"/>
              <a:cs typeface="Google Sans Flex"/>
              <a:sym typeface="Google Sans Flex"/>
            </a:endParaRPr>
          </a:p>
          <a:p>
            <a:pPr indent="0" lvl="0" marL="0" rtl="0" algn="l">
              <a:spcBef>
                <a:spcPts val="0"/>
              </a:spcBef>
              <a:spcAft>
                <a:spcPts val="0"/>
              </a:spcAft>
              <a:buNone/>
            </a:pPr>
            <a:r>
              <a:t/>
            </a:r>
            <a:endParaRPr sz="1100">
              <a:solidFill>
                <a:schemeClr val="lt1"/>
              </a:solidFill>
              <a:latin typeface="Google Sans Flex"/>
              <a:ea typeface="Google Sans Flex"/>
              <a:cs typeface="Google Sans Flex"/>
              <a:sym typeface="Google Sans Flex"/>
            </a:endParaRPr>
          </a:p>
        </p:txBody>
      </p:sp>
      <p:pic>
        <p:nvPicPr>
          <p:cNvPr id="64" name="Google Shape;64;p14"/>
          <p:cNvPicPr preferRelativeResize="0"/>
          <p:nvPr/>
        </p:nvPicPr>
        <p:blipFill>
          <a:blip r:embed="rId4">
            <a:alphaModFix/>
          </a:blip>
          <a:stretch>
            <a:fillRect/>
          </a:stretch>
        </p:blipFill>
        <p:spPr>
          <a:xfrm>
            <a:off x="924203" y="1194675"/>
            <a:ext cx="3604250" cy="2621725"/>
          </a:xfrm>
          <a:prstGeom prst="rect">
            <a:avLst/>
          </a:prstGeom>
          <a:noFill/>
          <a:ln>
            <a:noFill/>
          </a:ln>
          <a:effectLst>
            <a:outerShdw blurRad="971550" rotWithShape="0" algn="bl" dir="5400000" dist="19050">
              <a:schemeClr val="lt1">
                <a:alpha val="50000"/>
              </a:scheme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different is it from any of the other existing ideas?</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will it be able to solve the problem?</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USP of the proposed solution</a:t>
            </a:r>
            <a:endParaRPr sz="1300">
              <a:latin typeface="Google Sans Flex"/>
              <a:ea typeface="Google Sans Flex"/>
              <a:cs typeface="Google Sans Flex"/>
              <a:sym typeface="Google Sans Flex"/>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